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접수</c:v>
                </c:pt>
              </c:strCache>
            </c:strRef>
          </c:tx>
          <c:spPr>
            <a:solidFill>
              <a:srgbClr val="3C5D93"/>
            </a:solidFill>
          </c:spPr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31</c:v>
                </c:pt>
                <c:pt idx="2">
                  <c:v>28</c:v>
                </c:pt>
                <c:pt idx="3">
                  <c:v>35</c:v>
                </c:pt>
                <c:pt idx="4">
                  <c:v>30</c:v>
                </c:pt>
                <c:pt idx="5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가결</c:v>
                </c:pt>
              </c:strCache>
            </c:strRef>
          </c:tx>
          <c:spPr>
            <a:solidFill>
              <a:srgbClr val="1F6A97"/>
            </a:solidFill>
          </c:spPr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</c:v>
                </c:pt>
                <c:pt idx="1">
                  <c:v>26</c:v>
                </c:pt>
                <c:pt idx="2">
                  <c:v>25</c:v>
                </c:pt>
                <c:pt idx="3">
                  <c:v>30</c:v>
                </c:pt>
                <c:pt idx="4">
                  <c:v>26</c:v>
                </c:pt>
                <c:pt idx="5">
                  <c:v>24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5"/>
            </a:solidFill>
          </a:ln>
        </c:spPr>
        <c:txPr>
          <a:bodyPr/>
          <a:lstStyle/>
          <a:p>
            <a:pPr>
              <a:defRPr sz="1200">
                <a:solidFill>
                  <a:srgbClr val="4A5566"/>
                </a:solidFill>
                <a:latin typeface="Pretendard GOV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0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5DCE5"/>
            </a:solidFill>
          </a:ln>
        </c:spPr>
        <c:txPr>
          <a:bodyPr/>
          <a:lstStyle/>
          <a:p>
            <a:pPr>
              <a:defRPr sz="1200">
                <a:solidFill>
                  <a:srgbClr val="4A5566"/>
                </a:solidFill>
                <a:latin typeface="Pretendard GOV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Pretendard GOV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assembly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921224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77724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Pretendard GOV"/>
                <a:ea typeface="Pretendard GOV"/>
              </a:rPr>
              <a:t>경기도의회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Pretendard GOV"/>
                <a:ea typeface="Pretendard GOV"/>
              </a:rPr>
              <a:t>GYEONGGI PROVINCIAL COUNCIL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Pretendard GOV"/>
                <a:ea typeface="Pretendard GOV"/>
              </a:rPr>
              <a:t>경기도의회 의정정보시스템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DBE6F5"/>
                </a:solidFill>
                <a:latin typeface="Pretendard GOV"/>
                <a:ea typeface="Pretendard GOV"/>
              </a:rPr>
              <a:t>도민과 함께 만드는 의정 — 설명회 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Pretendard GOV"/>
                <a:ea typeface="Pretendard GOV"/>
              </a:rPr>
              <a:t>2026. 09. 05 · 경기도의회사무처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목차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02920" cy="45720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3C5D93"/>
                </a:solidFill>
                <a:latin typeface="Pretendard GOV"/>
                <a:ea typeface="Pretendard GOV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10408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의정정보시스템이란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12848"/>
            <a:ext cx="502920" cy="45720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3C5D93"/>
                </a:solidFill>
                <a:latin typeface="Pretendard GOV"/>
                <a:ea typeface="Pretendard GOV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12848"/>
            <a:ext cx="10408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무엇이 달라지나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71216"/>
            <a:ext cx="502920" cy="45720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87121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3C5D93"/>
                </a:solidFill>
                <a:latin typeface="Pretendard GOV"/>
                <a:ea typeface="Pretendard GOV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71216"/>
            <a:ext cx="10408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주요 기능 — 의안 · 회의 · 참여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9584"/>
            <a:ext cx="502920" cy="45720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352958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3C5D93"/>
                </a:solidFill>
                <a:latin typeface="Pretendard GOV"/>
                <a:ea typeface="Pretendard GOV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529584"/>
            <a:ext cx="10408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이용 현황과 앞으로의 계획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2 / 12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DBE6F5"/>
                </a:solidFill>
                <a:latin typeface="Pretendard GOV"/>
                <a:ea typeface="Pretendard GOV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Pretendard GOV"/>
                <a:ea typeface="Pretendard GOV"/>
              </a:rPr>
              <a:t>의정정보시스템이란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EF3FA"/>
                </a:solidFill>
                <a:latin typeface="Pretendard GOV"/>
                <a:ea typeface="Pretendard GOV"/>
              </a:rPr>
              <a:t>의안 · 회의록 · 의원 활동을 한 곳에서 찾아보실 수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Pretendard GOV"/>
                <a:ea typeface="Pretendard GOV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의정정보시스템이란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경기도의회가 운영하는 의정정보 통합 누리집입니다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의안, 회의록, 의원 활동을 한 곳에서 찾아보실 수 있습니다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회기 중 본회의는 인터넷 방송으로 보실 수 있습니다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정책 의견을 온라인으로 제출하실 수 있습니다</a:t>
            </a:r>
          </a:p>
          <a:p>
            <a:pPr lvl="1">
              <a:lnSpc>
                <a:spcPct val="135000"/>
              </a:lnSpc>
            </a:pPr>
            <a:r>
              <a:rPr sz="1600" b="0">
                <a:solidFill>
                  <a:srgbClr val="4A5566"/>
                </a:solidFill>
                <a:latin typeface="Pretendard GOV"/>
                <a:ea typeface="Pretendard GOV"/>
              </a:rPr>
              <a:t>–  의견은 소관 위원회에 전달되고, 처리 결과를 알려 드립니다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PC · 휴대폰 어디서나 같은 화면으로 이용하실 수 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532120"/>
            <a:ext cx="11094415" cy="640080"/>
          </a:xfrm>
          <a:prstGeom prst="rect">
            <a:avLst/>
          </a:prstGeom>
          <a:solidFill>
            <a:srgbClr val="E2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54864" cy="640080"/>
          </a:xfrm>
          <a:prstGeom prst="rect">
            <a:avLst/>
          </a:prstGeom>
          <a:solidFill>
            <a:srgbClr val="1F6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F29"/>
                </a:solidFill>
                <a:latin typeface="Pretendard GOV"/>
                <a:ea typeface="Pretendard GOV"/>
              </a:rPr>
              <a:t>공식 누리집 표시(마스트헤드)와 기관 식별 표시(아이덴티파이어)가 있는 화면만 경기도의회의 공식 서비스입니다.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4 / 12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무엇이 달라지나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기존 · 개편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18607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18607" cy="54864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7699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31722"/>
                </a:solidFill>
                <a:latin typeface="Pretendard GOV"/>
                <a:ea typeface="Pretendard GOV"/>
              </a:rPr>
              <a:t>기존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69967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1A1F29"/>
                </a:solidFill>
                <a:latin typeface="Pretendard GOV"/>
                <a:ea typeface="Pretendard GOV"/>
              </a:rPr>
              <a:t>•  시스템마다 다른 화면과 메뉴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F29"/>
                </a:solidFill>
                <a:latin typeface="Pretendard GOV"/>
                <a:ea typeface="Pretendard GOV"/>
              </a:rPr>
              <a:t>•  의안 검색에 여러 단계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F29"/>
                </a:solidFill>
                <a:latin typeface="Pretendard GOV"/>
                <a:ea typeface="Pretendard GOV"/>
              </a:rPr>
              <a:t>•  휴대폰에서 글자가 작음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1645920"/>
            <a:ext cx="5318607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324447" y="1645920"/>
            <a:ext cx="5318607" cy="54864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98767" y="1645920"/>
            <a:ext cx="47699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31722"/>
                </a:solidFill>
                <a:latin typeface="Pretendard GOV"/>
                <a:ea typeface="Pretendard GOV"/>
              </a:rPr>
              <a:t>개편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377440"/>
            <a:ext cx="4769967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1A1F29"/>
                </a:solidFill>
                <a:latin typeface="Pretendard GOV"/>
                <a:ea typeface="Pretendard GOV"/>
              </a:rPr>
              <a:t>•  모든 시스템이 같은 디자인(공통 디자인 시스템 v3)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F29"/>
                </a:solidFill>
                <a:latin typeface="Pretendard GOV"/>
                <a:ea typeface="Pretendard GOV"/>
              </a:rPr>
              <a:t>•  통합검색 한 번으로 의안 · 회의록 · 의원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F29"/>
                </a:solidFill>
                <a:latin typeface="Pretendard GOV"/>
                <a:ea typeface="Pretendard GOV"/>
              </a:rPr>
              <a:t>•  글자 17px · 버튼 48px — 정부 디지털 서비스 기준(KRDS)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5 / 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DBE6F5"/>
                </a:solidFill>
                <a:latin typeface="Pretendard GOV"/>
                <a:ea typeface="Pretendard GOV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Pretendard GOV"/>
                <a:ea typeface="Pretendard GOV"/>
              </a:rPr>
              <a:t>주요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EF3FA"/>
                </a:solidFill>
                <a:latin typeface="Pretendard GOV"/>
                <a:ea typeface="Pretendard GOV"/>
              </a:rPr>
              <a:t>의안 · 회의 · 도민 참여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Pretendard GOV"/>
                <a:ea typeface="Pretendard GOV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의안 검색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대민 누리집 — 의안 목록</a:t>
            </a:r>
          </a:p>
        </p:txBody>
      </p:sp>
      <p:pic>
        <p:nvPicPr>
          <p:cNvPr id="5" name="Picture 4" descr="screen-publ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11094415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5566"/>
                </a:solidFill>
                <a:latin typeface="Pretendard GOV"/>
                <a:ea typeface="Pretendard GOV"/>
              </a:rPr>
              <a:t>그림 1. 의안 목록 화면 (예시 데이터)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7 / 12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제380회 정례회 의안 처리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단위: 건 · 2026-09-05 기준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44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retendard GOV"/>
                          <a:ea typeface="Pretendard GOV"/>
                        </a:rPr>
                        <a:t>위원회</a:t>
                      </a:r>
                    </a:p>
                  </a:txBody>
                  <a:tcPr marL="109728" marR="109728">
                    <a:solidFill>
                      <a:srgbClr val="2E4A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Pretendard GOV"/>
                          <a:ea typeface="Pretendard GOV"/>
                        </a:rPr>
                        <a:t>접수</a:t>
                      </a:r>
                    </a:p>
                  </a:txBody>
                  <a:tcPr marL="109728" marR="109728">
                    <a:solidFill>
                      <a:srgbClr val="2E4A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Pretendard GOV"/>
                          <a:ea typeface="Pretendard GOV"/>
                        </a:rPr>
                        <a:t>가결</a:t>
                      </a:r>
                    </a:p>
                  </a:txBody>
                  <a:tcPr marL="109728" marR="109728">
                    <a:solidFill>
                      <a:srgbClr val="2E4A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Pretendard GOV"/>
                          <a:ea typeface="Pretendard GOV"/>
                        </a:rPr>
                        <a:t>계속심사</a:t>
                      </a:r>
                    </a:p>
                  </a:txBody>
                  <a:tcPr marL="109728" marR="109728">
                    <a:solidFill>
                      <a:srgbClr val="2E4A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Pretendard GOV"/>
                          <a:ea typeface="Pretendard GOV"/>
                        </a:rPr>
                        <a:t>처리율</a:t>
                      </a:r>
                    </a:p>
                  </a:txBody>
                  <a:tcPr marL="109728" marR="109728">
                    <a:solidFill>
                      <a:srgbClr val="2E4A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기획재정위원회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38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31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81.6%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경제노동위원회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29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24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82.8%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문화체육관광위원회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22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19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86.4%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보건복지위원회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34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28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6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82.4%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건설교통위원회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24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16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66.7%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31722"/>
                          </a:solidFill>
                          <a:latin typeface="Pretendard GOV"/>
                          <a:ea typeface="Pretendard GOV"/>
                        </a:rPr>
                        <a:t>합계</a:t>
                      </a:r>
                    </a:p>
                  </a:txBody>
                  <a:tcPr marL="109728" marR="10972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31722"/>
                          </a:solidFill>
                          <a:latin typeface="Pretendard GOV"/>
                          <a:ea typeface="Pretendard GOV"/>
                        </a:rPr>
                        <a:t>147</a:t>
                      </a:r>
                    </a:p>
                  </a:txBody>
                  <a:tcPr marL="109728" marR="10972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31722"/>
                          </a:solidFill>
                          <a:latin typeface="Pretendard GOV"/>
                          <a:ea typeface="Pretendard GOV"/>
                        </a:rPr>
                        <a:t>118</a:t>
                      </a:r>
                    </a:p>
                  </a:txBody>
                  <a:tcPr marL="109728" marR="10972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31722"/>
                          </a:solidFill>
                          <a:latin typeface="Pretendard GOV"/>
                          <a:ea typeface="Pretendard GOV"/>
                        </a:rPr>
                        <a:t>21</a:t>
                      </a:r>
                    </a:p>
                  </a:txBody>
                  <a:tcPr marL="109728" marR="10972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31722"/>
                          </a:solidFill>
                          <a:latin typeface="Pretendard GOV"/>
                          <a:ea typeface="Pretendard GOV"/>
                        </a:rPr>
                        <a:t>80.3%</a:t>
                      </a:r>
                    </a:p>
                  </a:txBody>
                  <a:tcPr marL="109728" marR="10972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8 / 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월별 의안 접수 · 가결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2026년 상반기 · 단위: 건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94415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9 / 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이용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2026년 8월 · 대민 누리집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67863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19277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A5566"/>
                </a:solidFill>
                <a:latin typeface="Pretendard GOV"/>
                <a:ea typeface="Pretendard GOV"/>
              </a:rPr>
              <a:t>월간 방문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1927783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131722"/>
                </a:solidFill>
                <a:latin typeface="Pretendard GOV"/>
                <a:ea typeface="Pretendard GOV"/>
              </a:rPr>
              <a:t>184,200</a:t>
            </a:r>
            <a:r>
              <a:rPr sz="1600" b="1">
                <a:solidFill>
                  <a:srgbClr val="5A6577"/>
                </a:solidFill>
                <a:latin typeface="Pretendard GOV"/>
                <a:ea typeface="Pretendard GOV"/>
              </a:rPr>
              <a:t> 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31920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A7B4E"/>
                </a:solidFill>
                <a:latin typeface="Pretendard GOV"/>
                <a:ea typeface="Pretendard GOV"/>
              </a:rPr>
              <a:t>▲ 전월 대비 12%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823" y="1828800"/>
            <a:ext cx="2567863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10863" y="2103120"/>
            <a:ext cx="19277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A5566"/>
                </a:solidFill>
                <a:latin typeface="Pretendard GOV"/>
                <a:ea typeface="Pretendard GOV"/>
              </a:rPr>
              <a:t>의안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0863" y="2651760"/>
            <a:ext cx="1927783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131722"/>
                </a:solidFill>
                <a:latin typeface="Pretendard GOV"/>
                <a:ea typeface="Pretendard GOV"/>
              </a:rPr>
              <a:t>61,300</a:t>
            </a:r>
            <a:r>
              <a:rPr sz="1600" b="1">
                <a:solidFill>
                  <a:srgbClr val="5A6577"/>
                </a:solidFill>
                <a:latin typeface="Pretendard GOV"/>
                <a:ea typeface="Pretendard GOV"/>
              </a:rPr>
              <a:t> 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0863" y="3931920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A7B4E"/>
                </a:solidFill>
                <a:latin typeface="Pretendard GOV"/>
                <a:ea typeface="Pretendard GOV"/>
              </a:rPr>
              <a:t>▲ 전월 대비 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28800"/>
            <a:ext cx="2567863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53047" y="2103120"/>
            <a:ext cx="19277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A5566"/>
                </a:solidFill>
                <a:latin typeface="Pretendard GOV"/>
                <a:ea typeface="Pretendard GOV"/>
              </a:rPr>
              <a:t>의견 제출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651760"/>
            <a:ext cx="1927783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131722"/>
                </a:solidFill>
                <a:latin typeface="Pretendard GOV"/>
                <a:ea typeface="Pretendard GOV"/>
              </a:rPr>
              <a:t>1,240</a:t>
            </a:r>
            <a:r>
              <a:rPr sz="1600" b="1">
                <a:solidFill>
                  <a:srgbClr val="5A6577"/>
                </a:solidFill>
                <a:latin typeface="Pretendard GOV"/>
                <a:ea typeface="Pretendard GOV"/>
              </a:rPr>
              <a:t> 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3931920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A7B4E"/>
                </a:solidFill>
                <a:latin typeface="Pretendard GOV"/>
                <a:ea typeface="Pretendard GOV"/>
              </a:rPr>
              <a:t>처리율 96%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5191" y="1828800"/>
            <a:ext cx="2567863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95231" y="2103120"/>
            <a:ext cx="19277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A5566"/>
                </a:solidFill>
                <a:latin typeface="Pretendard GOV"/>
                <a:ea typeface="Pretendard GOV"/>
              </a:rPr>
              <a:t>방송 시청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5231" y="2651760"/>
            <a:ext cx="1927783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131722"/>
                </a:solidFill>
                <a:latin typeface="Pretendard GOV"/>
                <a:ea typeface="Pretendard GOV"/>
              </a:rPr>
              <a:t>9,800</a:t>
            </a:r>
            <a:r>
              <a:rPr sz="1600" b="1">
                <a:solidFill>
                  <a:srgbClr val="5A6577"/>
                </a:solidFill>
                <a:latin typeface="Pretendard GOV"/>
                <a:ea typeface="Pretendard GOV"/>
              </a:rPr>
              <a:t> 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5231" y="3931920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A5566"/>
                </a:solidFill>
                <a:latin typeface="Pretendard GOV"/>
                <a:ea typeface="Pretendard GOV"/>
              </a:rPr>
              <a:t>본회의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10 / 12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앞으로의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2026년 하반기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회의록 전문 검색 고도화 (2026-10)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의원별 활동 요약 페이지 (2026-11)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정책 의견 처리 결과 알림 (2026-12)</a:t>
            </a:r>
          </a:p>
          <a:p>
            <a:pPr lvl="1">
              <a:lnSpc>
                <a:spcPct val="135000"/>
              </a:lnSpc>
            </a:pPr>
            <a:r>
              <a:rPr sz="1600" b="0">
                <a:solidFill>
                  <a:srgbClr val="4A5566"/>
                </a:solidFill>
                <a:latin typeface="Pretendard GOV"/>
                <a:ea typeface="Pretendard GOV"/>
              </a:rPr>
              <a:t>–  문자 · 이메일로 알려 드립니다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접근성 인증(KWCAG 2.2) 갱신 (2027-01)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11 / 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assembly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82910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Pretendard GOV"/>
                <a:ea typeface="Pretendard GOV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DBE6F5"/>
                </a:solidFill>
                <a:latin typeface="Pretendard GOV"/>
                <a:ea typeface="Pretendard GOV"/>
              </a:rPr>
              <a:t>경기도의회사무처 공간정보화과 · 031-8008-7000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DBE6F5"/>
                </a:solidFill>
                <a:latin typeface="Pretendard GOV"/>
                <a:ea typeface="Pretendard GOV"/>
              </a:rPr>
              <a:t>www.ggc.go.kr · 의정정보시스템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Pretendard GOV"/>
                <a:ea typeface="Pretendard GOV"/>
              </a:rPr>
              <a:t>이 자료는 경기도의회 의정정보시스템 공식 발표 자료입니다 · 경기도의회사무처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