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접수</c:v>
                </c:pt>
              </c:strCache>
            </c:strRef>
          </c:tx>
          <c:spPr>
            <a:solidFill>
              <a:srgbClr val="3C5D93"/>
            </a:solidFill>
          </c:spP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31</c:v>
                </c:pt>
                <c:pt idx="2">
                  <c:v>28</c:v>
                </c:pt>
                <c:pt idx="3">
                  <c:v>35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가결</c:v>
                </c:pt>
              </c:strCache>
            </c:strRef>
          </c:tx>
          <c:spPr>
            <a:solidFill>
              <a:srgbClr val="1F6A97"/>
            </a:solidFill>
          </c:spP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26</c:v>
                </c:pt>
                <c:pt idx="2">
                  <c:v>25</c:v>
                </c:pt>
                <c:pt idx="3">
                  <c:v>30</c:v>
                </c:pt>
                <c:pt idx="4">
                  <c:v>26</c:v>
                </c:pt>
                <c:pt idx="5">
                  <c:v>24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5"/>
            </a:solidFill>
          </a:ln>
        </c:spPr>
        <c:txPr>
          <a:bodyPr/>
          <a:lstStyle/>
          <a:p>
            <a:pPr>
              <a:defRPr sz="1200">
                <a:solidFill>
                  <a:srgbClr val="4A5566"/>
                </a:solidFill>
                <a:latin typeface="Pretendard GOV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0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DCE5"/>
            </a:solidFill>
          </a:ln>
        </c:spPr>
        <c:txPr>
          <a:bodyPr/>
          <a:lstStyle/>
          <a:p>
            <a:pPr>
              <a:defRPr sz="1200">
                <a:solidFill>
                  <a:srgbClr val="4A5566"/>
                </a:solidFill>
                <a:latin typeface="Pretendard GOV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retendard GOV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ssembly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921224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7772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Pretendard GOV"/>
                <a:ea typeface="Pretendard GOV"/>
              </a:rPr>
              <a:t>경기도의회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Pretendard GOV"/>
                <a:ea typeface="Pretendard GOV"/>
              </a:rPr>
              <a:t>GYEONGGI PROVINCIAL COUNCIL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Pretendard GOV"/>
                <a:ea typeface="Pretendard GOV"/>
              </a:rPr>
              <a:t>발표 제목을 여기에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BE6F5"/>
                </a:solidFill>
                <a:latin typeface="Pretendard GOV"/>
                <a:ea typeface="Pretendard GOV"/>
              </a:rPr>
              <a:t>부제 · 설명회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Pretendard GOV"/>
                <a:ea typeface="Pretendard GOV"/>
              </a:rPr>
              <a:t>2026. 09. 05 · 경기도의회사무처 ○○과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첫 번째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12848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두 번째 항목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71216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세 번째 항목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9584"/>
            <a:ext cx="502920" cy="45720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3C5D93"/>
                </a:solidFill>
                <a:latin typeface="Pretendard GOV"/>
                <a:ea typeface="Pretendard GOV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29584"/>
            <a:ext cx="10408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네 번째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2 / 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DBE6F5"/>
                </a:solidFill>
                <a:latin typeface="Pretendard GOV"/>
                <a:ea typeface="Pretendard GOV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Pretendard GOV"/>
                <a:ea typeface="Pretendard GOV"/>
              </a:rPr>
              <a:t>섹션 제목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EF3FA"/>
                </a:solidFill>
                <a:latin typeface="Pretendard GOV"/>
                <a:ea typeface="Pretendard GOV"/>
              </a:rPr>
              <a:t>섹션 부제 — 한 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 GOV"/>
                <a:ea typeface="Pretendard GOV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본문 슬라이드 제목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부제 또는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첫 번째 요점 — 한 줄에 하나</a:t>
            </a:r>
          </a:p>
          <a:p>
            <a:pPr lvl="1">
              <a:lnSpc>
                <a:spcPct val="135000"/>
              </a:lnSpc>
            </a:pPr>
            <a:r>
              <a:rPr sz="1600" b="0">
                <a:solidFill>
                  <a:srgbClr val="4A5566"/>
                </a:solidFill>
                <a:latin typeface="Pretendard GOV"/>
                <a:ea typeface="Pretendard GOV"/>
              </a:rPr>
              <a:t>–  하위 설명은 한 단계만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두 번째 요점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세 번째 요점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네 번째 요점</a:t>
            </a:r>
          </a:p>
          <a:p>
            <a:pPr>
              <a:lnSpc>
                <a:spcPct val="135000"/>
              </a:lnSpc>
            </a:pPr>
            <a:r>
              <a:rPr sz="1800" b="0">
                <a:solidFill>
                  <a:srgbClr val="1A1F29"/>
                </a:solidFill>
                <a:latin typeface="Pretendard GOV"/>
                <a:ea typeface="Pretendard GOV"/>
              </a:rPr>
              <a:t>•  다섯 번째 요점 — 여섯 줄을 넘기지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32120"/>
            <a:ext cx="11094415" cy="640080"/>
          </a:xfrm>
          <a:prstGeom prst="rect">
            <a:avLst/>
          </a:prstGeom>
          <a:solidFill>
            <a:srgbClr val="E2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54864" cy="640080"/>
          </a:xfrm>
          <a:prstGeom prst="rect">
            <a:avLst/>
          </a:prstGeom>
          <a:solidFill>
            <a:srgbClr val="1F6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F29"/>
                </a:solidFill>
                <a:latin typeface="Pretendard GOV"/>
                <a:ea typeface="Pretendard GOV"/>
              </a:rPr>
              <a:t>강조 상자 — 핵심 메시지 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4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2단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현행 ·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18607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18607" cy="54864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31722"/>
                </a:solidFill>
                <a:latin typeface="Pretendard GOV"/>
                <a:ea typeface="Pretendard GOV"/>
              </a:rPr>
              <a:t>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6996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1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2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645920"/>
            <a:ext cx="5318607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324447" y="1645920"/>
            <a:ext cx="5318607" cy="54864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98767" y="164592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31722"/>
                </a:solidFill>
                <a:latin typeface="Pretendard GOV"/>
                <a:ea typeface="Pretendard GOV"/>
              </a:rPr>
              <a:t>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377440"/>
            <a:ext cx="476996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1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2</a:t>
            </a:r>
          </a:p>
          <a:p>
            <a:pPr>
              <a:lnSpc>
                <a:spcPct val="130000"/>
              </a:lnSpc>
            </a:pPr>
            <a:r>
              <a:rPr sz="1600" b="0">
                <a:solidFill>
                  <a:srgbClr val="1A1F29"/>
                </a:solidFill>
                <a:latin typeface="Pretendard GOV"/>
                <a:ea typeface="Pretendard GOV"/>
              </a:rPr>
              <a:t>•  항목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5 / 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화면 · 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캡션은 아래 한 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4415" cy="411480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577"/>
                </a:solidFill>
                <a:latin typeface="Pretendard GOV"/>
                <a:ea typeface="Pretendard GOV"/>
              </a:rPr>
              <a:t>화면 캡처 · 도해 자리 (16:9 · 여백 없이 · 실제 데이터 마스킹)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4A5566"/>
                </a:solidFill>
                <a:latin typeface="Pretendard GOV"/>
                <a:ea typeface="Pretendard GOV"/>
              </a:rPr>
              <a:t>그림 1. 설명 — 출처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6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단위: 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구분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접수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가결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계속심사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Pretendard GOV"/>
                          <a:ea typeface="Pretendard GOV"/>
                        </a:rPr>
                        <a:t>처리율</a:t>
                      </a:r>
                    </a:p>
                  </a:txBody>
                  <a:tcPr marL="109728" marR="109728">
                    <a:solidFill>
                      <a:srgbClr val="2E4A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기획재정위원회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38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31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81.6%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경제노동위원회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82.8%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문화체육관광위원회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19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A4150"/>
                          </a:solidFill>
                          <a:latin typeface="Pretendard GOV"/>
                          <a:ea typeface="Pretendard GOV"/>
                        </a:rPr>
                        <a:t>86.4%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합계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89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74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11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31722"/>
                          </a:solidFill>
                          <a:latin typeface="Pretendard GOV"/>
                          <a:ea typeface="Pretendard GOV"/>
                        </a:rPr>
                        <a:t>83.1%</a:t>
                      </a:r>
                    </a:p>
                  </a:txBody>
                  <a:tcPr marL="109728" marR="10972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7 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차트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단위: 건 · 색은 데이터에만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94415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8 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64008" cy="566928"/>
          </a:xfrm>
          <a:prstGeom prst="rect">
            <a:avLst/>
          </a:prstGeom>
          <a:solidFill>
            <a:srgbClr val="3C5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089324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31722"/>
                </a:solidFill>
                <a:latin typeface="Pretendard GOV"/>
                <a:ea typeface="Pretendard GOV"/>
              </a:rPr>
              <a:t>핵심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0"/>
            <a:ext cx="10893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A5566"/>
                </a:solidFill>
                <a:latin typeface="Pretendard GOV"/>
                <a:ea typeface="Pretendard GOV"/>
              </a:rPr>
              <a:t>제380회 정례회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접수 의안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147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7B4E"/>
                </a:solidFill>
                <a:latin typeface="Pretendard GOV"/>
                <a:ea typeface="Pretendard GOV"/>
              </a:rPr>
              <a:t>▲ 전 회기 대비 12건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10863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가결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118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863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A7B4E"/>
                </a:solidFill>
                <a:latin typeface="Pretendard GOV"/>
                <a:ea typeface="Pretendard GOV"/>
              </a:rPr>
              <a:t>처리율 80.3%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계속심사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21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9D5E00"/>
                </a:solidFill>
                <a:latin typeface="Pretendard GOV"/>
                <a:ea typeface="Pretendard GOV"/>
              </a:rPr>
              <a:t>기한 임박 4건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191" y="1828800"/>
            <a:ext cx="2567863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95231" y="2103120"/>
            <a:ext cx="19277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A5566"/>
                </a:solidFill>
                <a:latin typeface="Pretendard GOV"/>
                <a:ea typeface="Pretendard GOV"/>
              </a:rPr>
              <a:t>부결 · 폐기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5231" y="2651760"/>
            <a:ext cx="1927783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131722"/>
                </a:solidFill>
                <a:latin typeface="Pretendard GOV"/>
                <a:ea typeface="Pretendard GOV"/>
              </a:rPr>
              <a:t>8</a:t>
            </a:r>
            <a:r>
              <a:rPr sz="1600" b="1">
                <a:solidFill>
                  <a:srgbClr val="5A6577"/>
                </a:solidFill>
                <a:latin typeface="Pretendard GOV"/>
                <a:ea typeface="Pretendard GOV"/>
              </a:rPr>
              <a:t> 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5231" y="3931920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D2D2D"/>
                </a:solidFill>
                <a:latin typeface="Pretendard GOV"/>
                <a:ea typeface="Pretendard GOV"/>
              </a:rPr>
              <a:t>▼ 전 회기 대비 3건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경기도의회 · 의정정보시스템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A6577"/>
                </a:solidFill>
                <a:latin typeface="Pretendard GOV"/>
                <a:ea typeface="Pretendard GOV"/>
              </a:rPr>
              <a:t>9 / 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5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assembly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2910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Pretendard GOV"/>
                <a:ea typeface="Pretendard GOV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DBE6F5"/>
                </a:solidFill>
                <a:latin typeface="Pretendard GOV"/>
                <a:ea typeface="Pretendard GOV"/>
              </a:rPr>
              <a:t>담당 부서 · 대표전화 · 이메일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DBE6F5"/>
                </a:solidFill>
                <a:latin typeface="Pretendard GOV"/>
                <a:ea typeface="Pretendard GOV"/>
              </a:rPr>
              <a:t>www.ggc.go.kr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Pretendard GOV"/>
                <a:ea typeface="Pretendard GOV"/>
              </a:rPr>
              <a:t>이 자료는 경기도의회 의정정보시스템 공식 발표 자료입니다 · 경기도의회사무처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