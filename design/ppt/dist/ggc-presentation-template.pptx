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접수</c:v>
                </c:pt>
              </c:strCache>
            </c:strRef>
          </c:tx>
          <c:spPr>
            <a:solidFill>
              <a:srgbClr val="3C5D93"/>
            </a:solidFill>
          </c:spPr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</c:v>
                </c:pt>
                <c:pt idx="1">
                  <c:v>31</c:v>
                </c:pt>
                <c:pt idx="2">
                  <c:v>28</c:v>
                </c:pt>
                <c:pt idx="3">
                  <c:v>35</c:v>
                </c:pt>
                <c:pt idx="4">
                  <c:v>30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가결</c:v>
                </c:pt>
              </c:strCache>
            </c:strRef>
          </c:tx>
          <c:spPr>
            <a:solidFill>
              <a:srgbClr val="1F6A97"/>
            </a:solidFill>
          </c:spPr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</c:v>
                </c:pt>
                <c:pt idx="1">
                  <c:v>26</c:v>
                </c:pt>
                <c:pt idx="2">
                  <c:v>25</c:v>
                </c:pt>
                <c:pt idx="3">
                  <c:v>30</c:v>
                </c:pt>
                <c:pt idx="4">
                  <c:v>26</c:v>
                </c:pt>
                <c:pt idx="5">
                  <c:v>24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5"/>
            </a:solidFill>
          </a:ln>
        </c:spPr>
        <c:txPr>
          <a:bodyPr/>
          <a:lstStyle/>
          <a:p>
            <a:pPr>
              <a:defRPr sz="1200">
                <a:solidFill>
                  <a:srgbClr val="4A5566"/>
                </a:solidFill>
                <a:latin typeface="Pretendard GOV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0F3F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CE5"/>
            </a:solidFill>
          </a:ln>
        </c:spPr>
        <c:txPr>
          <a:bodyPr/>
          <a:lstStyle/>
          <a:p>
            <a:pPr>
              <a:defRPr sz="1200">
                <a:solidFill>
                  <a:srgbClr val="4A5566"/>
                </a:solidFill>
                <a:latin typeface="Pretendard GOV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Pretendard GOV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assembly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921224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77724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Pretendard GOV"/>
                <a:ea typeface="Pretendard GOV"/>
              </a:rPr>
              <a:t>경기도의회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Pretendard GOV"/>
                <a:ea typeface="Pretendard GOV"/>
              </a:rPr>
              <a:t>GYEONGGI PROVINCIAL COUNCIL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Pretendard GOV"/>
                <a:ea typeface="Pretendard GOV"/>
              </a:rPr>
              <a:t>발표 제목을 여기에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DBE6F5"/>
                </a:solidFill>
                <a:latin typeface="Pretendard GOV"/>
                <a:ea typeface="Pretendard GOV"/>
              </a:rPr>
              <a:t>부제 · 설명회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Pretendard GOV"/>
                <a:ea typeface="Pretendard GOV"/>
              </a:rPr>
              <a:t>2026. 09. 05 · 경기도의회사무처 ○○과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54480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첫 번째 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12848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12848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두 번째 항목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71216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87121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71216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세 번째 항목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29584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352958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529584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네 번째 항목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2 / 10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DBE6F5"/>
                </a:solidFill>
                <a:latin typeface="Pretendard GOV"/>
                <a:ea typeface="Pretendard GOV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섹션 제목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EF3FA"/>
                </a:solidFill>
                <a:latin typeface="Pretendard GOV"/>
                <a:ea typeface="Pretendard GOV"/>
              </a:rPr>
              <a:t>섹션 부제 — 한 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본문 슬라이드 제목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부제 또는 출처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첫 번째 요점 — 한 줄에 하나</a:t>
            </a:r>
          </a:p>
          <a:p>
            <a:pPr lvl="1">
              <a:lnSpc>
                <a:spcPct val="135000"/>
              </a:lnSpc>
            </a:pPr>
            <a:r>
              <a:rPr sz="1600" b="0">
                <a:solidFill>
                  <a:srgbClr val="4A5566"/>
                </a:solidFill>
                <a:latin typeface="Pretendard GOV"/>
                <a:ea typeface="Pretendard GOV"/>
              </a:rPr>
              <a:t>–  하위 설명은 한 단계만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두 번째 요점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세 번째 요점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네 번째 요점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다섯 번째 요점 — 여섯 줄을 넘기지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solidFill>
            <a:srgbClr val="E2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54864" cy="640080"/>
          </a:xfrm>
          <a:prstGeom prst="rect">
            <a:avLst/>
          </a:prstGeom>
          <a:solidFill>
            <a:srgbClr val="1F6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553212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F29"/>
                </a:solidFill>
                <a:latin typeface="Pretendard GOV"/>
                <a:ea typeface="Pretendard GOV"/>
              </a:rPr>
              <a:t>강조 상자 — 핵심 메시지 한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4 / 10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2단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현행 · 개선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18607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18607" cy="54864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47699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31722"/>
                </a:solidFill>
                <a:latin typeface="Pretendard GOV"/>
                <a:ea typeface="Pretendard GOV"/>
              </a:rPr>
              <a:t>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769967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1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2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645920"/>
            <a:ext cx="5318607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324447" y="1645920"/>
            <a:ext cx="5318607" cy="54864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98767" y="1645920"/>
            <a:ext cx="47699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31722"/>
                </a:solidFill>
                <a:latin typeface="Pretendard GOV"/>
                <a:ea typeface="Pretendard GOV"/>
              </a:rPr>
              <a:t>개선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377440"/>
            <a:ext cx="4769967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1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2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항목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5 / 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화면 · 도해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캡션은 아래 한 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1094415" cy="4114800"/>
          </a:xfrm>
          <a:prstGeom prst="roundRect">
            <a:avLst/>
          </a:prstGeom>
          <a:solidFill>
            <a:srgbClr val="F6F8FB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5A6577"/>
                </a:solidFill>
                <a:latin typeface="Pretendard GOV"/>
                <a:ea typeface="Pretendard GOV"/>
              </a:rPr>
              <a:t>화면 캡처 · 도해 자리 (16:9 · 여백 없이 · 실제 데이터 마스킹)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A5566"/>
                </a:solidFill>
                <a:latin typeface="Pretendard GOV"/>
                <a:ea typeface="Pretendard GOV"/>
              </a:rPr>
              <a:t>그림 1. 설명 —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6 /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단위: 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9441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구분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접수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가결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계속심사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처리율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기획재정위원회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38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31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81.6%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경제노동위원회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29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24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4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82.8%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문화체육관광위원회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19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86.4%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합계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89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74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11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83.1%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7 / 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차트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단위: 건 · 색은 데이터에만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94415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8 / 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핵심 수치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제380회 정례회 기준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접수 의안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147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▲ 전 회기 대비 12건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710863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가결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0863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118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0863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처리율 80.3%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53047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계속심사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21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9D5E00"/>
                </a:solidFill>
                <a:latin typeface="Pretendard GOV"/>
                <a:ea typeface="Pretendard GOV"/>
              </a:rPr>
              <a:t>기한 임박 4건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5191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95231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부결 · 폐기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231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8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5231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D2D2D"/>
                </a:solidFill>
                <a:latin typeface="Pretendard GOV"/>
                <a:ea typeface="Pretendard GOV"/>
              </a:rPr>
              <a:t>▼ 전 회기 대비 3건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9 / 10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assembly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829101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DBE6F5"/>
                </a:solidFill>
                <a:latin typeface="Pretendard GOV"/>
                <a:ea typeface="Pretendard GOV"/>
              </a:rPr>
              <a:t>담당 부서 · 대표전화 · 이메일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DBE6F5"/>
                </a:solidFill>
                <a:latin typeface="Pretendard GOV"/>
                <a:ea typeface="Pretendard GOV"/>
              </a:rPr>
              <a:t>www.ggc.go.kr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Pretendard GOV"/>
                <a:ea typeface="Pretendard GOV"/>
              </a:rPr>
              <a:t>이 자료는 경기도의회 의정정보시스템 공식 발표 자료입니다 · 경기도의회사무처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